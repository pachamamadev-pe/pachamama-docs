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365760"/>
            <a:ext cx="2194560" cy="4407408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58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Pachamama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9F2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Costos y escalamiento cloud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9F2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reunion con Gerencia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basado en la proyeccion 2026-2030 y en el escenario base con plataforma escalada.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813048"/>
            <a:ext cx="3584448" cy="256032"/>
          </a:xfrm>
          <a:prstGeom prst="roundRect">
            <a:avLst>
              <a:gd name="adj" fmla="val 28571"/>
            </a:avLst>
          </a:prstGeom>
          <a:solidFill>
            <a:srgbClr val="C99700"/>
          </a:solidFill>
          <a:ln w="12700">
            <a:solidFill>
              <a:srgbClr val="C997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84962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sugerida: Opcion A ahora, Opcion B en 2028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261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abril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03720" y="7680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03720" y="1152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al 2030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19751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46,800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0372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recolectores al 2030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31821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2,327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mensual 2030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NEGOCIO-PACHAMAMA-20260421.md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decision en una sola lamina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etapas, una ruta economica clara.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2514600" cy="14630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5819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Opcion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89280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607 - 855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" y="24048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 2026-2027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" y="2670048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controlado, velocidad y medicion real del negocio antes de encarecer la operacion.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" y="3172968"/>
            <a:ext cx="2185416" cy="256032"/>
          </a:xfrm>
          <a:prstGeom prst="roundRect">
            <a:avLst>
              <a:gd name="adj" fmla="val 28571"/>
            </a:avLst>
          </a:prstGeom>
          <a:solidFill>
            <a:srgbClr val="DCEBCF"/>
          </a:solidFill>
          <a:ln w="12700">
            <a:solidFill>
              <a:srgbClr val="DCEBC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320954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 ahora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0128" y="132588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325880"/>
            <a:ext cx="2514600" cy="146304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5819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Opcion 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89280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1,402 - 1,859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24048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 2028-2029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670048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gobierno y control cuando el crecimiento ya exige disciplina sobre datos, APIs y monitoreo.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3172968"/>
            <a:ext cx="2185416" cy="256032"/>
          </a:xfrm>
          <a:prstGeom prst="roundRect">
            <a:avLst>
              <a:gd name="adj" fmla="val 28571"/>
            </a:avLst>
          </a:prstGeom>
          <a:solidFill>
            <a:srgbClr val="F7E8BB"/>
          </a:solidFill>
          <a:ln w="12700">
            <a:solidFill>
              <a:srgbClr val="F7E8B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320954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formal 2028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17336" y="132588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325880"/>
            <a:ext cx="2514600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58191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Opcion 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1928" y="1892808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USD 2,327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81928" y="240487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 2030+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81928" y="2670048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reforzada solo si contratos, compliance o riesgo justifican una capa enterprise.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81928" y="3172968"/>
            <a:ext cx="2185416" cy="256032"/>
          </a:xfrm>
          <a:prstGeom prst="roundRect">
            <a:avLst>
              <a:gd name="adj" fmla="val 28571"/>
            </a:avLst>
          </a:prstGeom>
          <a:solidFill>
            <a:srgbClr val="F4D8D3"/>
          </a:solidFill>
          <a:ln w="12700">
            <a:solidFill>
              <a:srgbClr val="F4D8D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209544"/>
            <a:ext cx="2039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activar por intuicion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86791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2EA"/>
          </a:solidFill>
          <a:ln w="12700">
            <a:solidFill>
              <a:srgbClr val="D7E2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" y="403250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para Gerencia: no estamos aprobando una plataforma cara desde el inicio; estamos aprobando una ruta para invertir solo cuando el negocio lo pague o el riesgo lo exija.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Bandas de referencia: escenario base con plataforma escalada.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escala ya tiene forma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proyeccion 2026-2030 permite decidir con tiempo, no con intuicion.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49808" y="173736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1892808"/>
            <a:ext cx="1170432" cy="0"/>
          </a:xfrm>
          <a:prstGeom prst="line">
            <a:avLst/>
          </a:prstGeom>
          <a:noFill/>
          <a:ln w="19050">
            <a:solidFill>
              <a:srgbClr val="D8D2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7160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" y="271576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29718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" y="32278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173736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1176" y="1892808"/>
            <a:ext cx="1170432" cy="0"/>
          </a:xfrm>
          <a:prstGeom prst="line">
            <a:avLst/>
          </a:prstGeom>
          <a:noFill/>
          <a:ln w="19050">
            <a:solidFill>
              <a:srgbClr val="D8D2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137160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39112" y="2212848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67128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67128" y="271576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67128" y="29718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67128" y="32278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173736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97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41648" y="1892808"/>
            <a:ext cx="1170432" cy="0"/>
          </a:xfrm>
          <a:prstGeom prst="line">
            <a:avLst/>
          </a:prstGeom>
          <a:noFill/>
          <a:ln w="19050">
            <a:solidFill>
              <a:srgbClr val="D8D2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37160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29584" y="2212848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FFF8E4"/>
          </a:solidFill>
          <a:ln w="12700">
            <a:solidFill>
              <a:srgbClr val="E8D59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0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0" y="271576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29718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24,600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0" y="32278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21224" y="173736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97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892808"/>
            <a:ext cx="1170432" cy="0"/>
          </a:xfrm>
          <a:prstGeom prst="line">
            <a:avLst/>
          </a:prstGeom>
          <a:noFill/>
          <a:ln w="19050">
            <a:solidFill>
              <a:srgbClr val="D8D2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137160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0056" y="2212848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FFF8E4"/>
          </a:solidFill>
          <a:ln w="12700">
            <a:solidFill>
              <a:srgbClr val="E8D59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48072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48072" y="271576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48072" y="29718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35,400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48072" y="32278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11696" y="173736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22592" y="1892808"/>
            <a:ext cx="1170432" cy="0"/>
          </a:xfrm>
          <a:prstGeom prst="line">
            <a:avLst/>
          </a:prstGeom>
          <a:noFill/>
          <a:ln w="19050">
            <a:solidFill>
              <a:srgbClr val="D8D2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137160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10528" y="2212848"/>
            <a:ext cx="1243584" cy="1371600"/>
          </a:xfrm>
          <a:prstGeom prst="roundRect">
            <a:avLst>
              <a:gd name="adj" fmla="val 4412"/>
            </a:avLst>
          </a:prstGeom>
          <a:solidFill>
            <a:srgbClr val="FCEAE6"/>
          </a:solidFill>
          <a:ln w="12700">
            <a:solidFill>
              <a:srgbClr val="E7BE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38544" y="243230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638544" y="2715768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38544" y="29718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46,800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638544" y="322783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22592" y="1892808"/>
            <a:ext cx="731520" cy="0"/>
          </a:xfrm>
          <a:prstGeom prst="line">
            <a:avLst/>
          </a:prstGeom>
          <a:noFill/>
          <a:ln w="19050">
            <a:solidFill>
              <a:srgbClr val="D8D2C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3913632"/>
            <a:ext cx="2423160" cy="512064"/>
          </a:xfrm>
          <a:prstGeom prst="roundRect">
            <a:avLst>
              <a:gd name="adj" fmla="val 10714"/>
            </a:avLst>
          </a:prstGeom>
          <a:solidFill>
            <a:srgbClr val="EEF2EA"/>
          </a:solidFill>
          <a:ln w="12700">
            <a:solidFill>
              <a:srgbClr val="D7E2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86384" y="40782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recolectores por comunidad se mantiene estable.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28416" y="3913632"/>
            <a:ext cx="2423160" cy="512064"/>
          </a:xfrm>
          <a:prstGeom prst="roundRect">
            <a:avLst>
              <a:gd name="adj" fmla="val 10714"/>
            </a:avLst>
          </a:prstGeom>
          <a:solidFill>
            <a:srgbClr val="FFF8E4"/>
          </a:solidFill>
          <a:ln w="12700">
            <a:solidFill>
              <a:srgbClr val="E8D59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474720" y="40782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deja de ser un supuesto: ya es un hito de escala.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16752" y="3913632"/>
            <a:ext cx="2423160" cy="512064"/>
          </a:xfrm>
          <a:prstGeom prst="roundRect">
            <a:avLst>
              <a:gd name="adj" fmla="val 10714"/>
            </a:avLst>
          </a:prstGeom>
          <a:solidFill>
            <a:srgbClr val="FCEAE6"/>
          </a:solidFill>
          <a:ln w="12700">
            <a:solidFill>
              <a:srgbClr val="E7BE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163056" y="40782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es una decision de continuidad, no de moda tecnica.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proyeccion comercial 2026-2030.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Cuanto cuesta en el escenario 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mensual de referencia con plataforma escalada.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118872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041648"/>
            <a:ext cx="4892040" cy="0"/>
          </a:xfrm>
          <a:prstGeom prst="line">
            <a:avLst/>
          </a:prstGeom>
          <a:noFill/>
          <a:ln w="15240">
            <a:solidFill>
              <a:srgbClr val="D8D2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3475072"/>
            <a:ext cx="512064" cy="566576"/>
          </a:xfrm>
          <a:prstGeom prst="roundRect">
            <a:avLst>
              <a:gd name="adj" fmla="val 5357"/>
            </a:avLst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25561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23544" y="411480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3243996"/>
            <a:ext cx="512064" cy="797652"/>
          </a:xfrm>
          <a:prstGeom prst="roundRect">
            <a:avLst>
              <a:gd name="adj" fmla="val 5357"/>
            </a:avLst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302454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855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56232" y="411480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98064" y="2732802"/>
            <a:ext cx="512064" cy="1308846"/>
          </a:xfrm>
          <a:prstGeom prst="roundRect">
            <a:avLst>
              <a:gd name="adj" fmla="val 5357"/>
            </a:avLst>
          </a:prstGeom>
          <a:solidFill>
            <a:srgbClr val="C99700"/>
          </a:solidFill>
          <a:ln w="12700">
            <a:solidFill>
              <a:srgbClr val="C997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2513346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1,402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8920" y="411480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0752" y="2306084"/>
            <a:ext cx="512064" cy="1735564"/>
          </a:xfrm>
          <a:prstGeom prst="roundRect">
            <a:avLst>
              <a:gd name="adj" fmla="val 5357"/>
            </a:avLst>
          </a:prstGeom>
          <a:solidFill>
            <a:srgbClr val="C99700"/>
          </a:solidFill>
          <a:ln w="12700">
            <a:solidFill>
              <a:srgbClr val="C997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866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1,859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21608" y="411480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869463"/>
            <a:ext cx="512064" cy="2172185"/>
          </a:xfrm>
          <a:prstGeom prst="roundRect">
            <a:avLst>
              <a:gd name="adj" fmla="val 5357"/>
            </a:avLst>
          </a:prstGeom>
          <a:solidFill>
            <a:srgbClr val="B85042"/>
          </a:solidFill>
          <a:ln w="12700">
            <a:solidFill>
              <a:srgbClr val="B8504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1650007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2,327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54296" y="411480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27648" y="1188720"/>
            <a:ext cx="2322576" cy="320040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65392" y="144475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cambia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18288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2026-2027: banda manejable para iniciar.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el salto obliga a revisar gobierno.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2029-2030: continuidad y riesgo entran en la conversacion.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65392" y="3273552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C99700"/>
          </a:solidFill>
          <a:ln w="12700">
            <a:solidFill>
              <a:srgbClr val="C997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3310128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inflexion: 2028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65392" y="36393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subida no viene solo de almacenar mas archivos. Tambien crecen la base de datos, el procesamiento y el monitoreo.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escenario base escalado del anexo economico.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se decide A / B / 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cambia cuando cambian el costo, el control requerido y el riesgo del negocio.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7818120" cy="768096"/>
          </a:xfrm>
          <a:prstGeom prst="roundRect">
            <a:avLst>
              <a:gd name="adj" fmla="val 7143"/>
            </a:avLst>
          </a:prstGeom>
          <a:solidFill>
            <a:srgbClr val="EDF6E7"/>
          </a:solidFill>
          <a:ln w="12700">
            <a:solidFill>
              <a:srgbClr val="C9DDB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807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Mantener Opcion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389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aprox. USD 855 / 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09160" y="13716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prioridad es velocidad, control de margen y medicion real por cliente.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240280"/>
            <a:ext cx="7818120" cy="768096"/>
          </a:xfrm>
          <a:prstGeom prst="roundRect">
            <a:avLst>
              <a:gd name="adj" fmla="val 7143"/>
            </a:avLst>
          </a:prstGeom>
          <a:solidFill>
            <a:srgbClr val="FFF8E4"/>
          </a:solidFill>
          <a:ln w="12700">
            <a:solidFill>
              <a:srgbClr val="E8D59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3865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Activar Opcion 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3957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aprox. USD 1,402 / 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237744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crecimiento ya exige gobierno de APIs, datos y observabilidad mas fuerte.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3246120"/>
            <a:ext cx="7818120" cy="768096"/>
          </a:xfrm>
          <a:prstGeom prst="roundRect">
            <a:avLst>
              <a:gd name="adj" fmla="val 7143"/>
            </a:avLst>
          </a:prstGeom>
          <a:solidFill>
            <a:srgbClr val="FCEAE6"/>
          </a:solidFill>
          <a:ln w="12700">
            <a:solidFill>
              <a:srgbClr val="E7BE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3924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Evaluar Opcion 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401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aprox. USD 2,327 / 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338328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se agregan exigencias de SLA, compliance, continuidad o costo alto de falla.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261104"/>
            <a:ext cx="7818120" cy="402336"/>
          </a:xfrm>
          <a:prstGeom prst="roundRect">
            <a:avLst>
              <a:gd name="adj" fmla="val 13636"/>
            </a:avLst>
          </a:prstGeom>
          <a:solidFill>
            <a:srgbClr val="EEF2EA"/>
          </a:solidFill>
          <a:ln w="12700">
            <a:solidFill>
              <a:srgbClr val="D7E2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407408"/>
            <a:ext cx="7406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Gerencia: no subir de etapa antes de tiempo, pero tampoco esperar a que el crecimiento encuentre una plataforma subgobernada.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propuesta es una secuencia de decisiones, no una unica compra inicial.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gana el negocio con esta ruta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economico y control, no solo tecnologia.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9047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defendible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conversacion comercial puede pasar a cargo base + consumo variable sin vender por debajo del costo.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149047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Inversion en el momento correcto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82312" y="17830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inmoviliza margen en infraestructura enterprise antes de tener contratos o demanda que la paguen.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852928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0175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Visibilidad por cliente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3101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vuelve posible medir cuanto consume cada cliente y donde se concentran archivos, actividad y retencion.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852928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82312" y="30175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Ruta para servicios premium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82312" y="33101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Opcion C queda reservada para ofertas o contratos con continuidad reforzada y mayor valor.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315968"/>
            <a:ext cx="7296912" cy="27432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398264"/>
            <a:ext cx="6931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mejor margen, mejor narrativa comercial y una inversion cloud que madura al ritmo del negocio.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la ruta propuesta es financiero, comercial y operativo.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riesgos que si importan a Gerencia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puntos que mueven margen, reputacion o capacidad de ejecucion.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2615184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3624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por debajo del costo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6733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recupera la retencion y el uso real, el crecimiento comercial puede destruir margen.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2377440"/>
            <a:ext cx="2322576" cy="256032"/>
          </a:xfrm>
          <a:prstGeom prst="roundRect">
            <a:avLst>
              <a:gd name="adj" fmla="val 28571"/>
            </a:avLst>
          </a:prstGeom>
          <a:solidFill>
            <a:srgbClr val="FCEAE6"/>
          </a:solidFill>
          <a:ln w="12700">
            <a:solidFill>
              <a:srgbClr val="FCEAE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414016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 con cargo base + variable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73552" y="1234440"/>
            <a:ext cx="2615184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9856" y="13624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antes de tiempo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9856" y="16733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la capa mas cara demasiado pronto elevaria el costo fijo sin retorno equivalente.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19856" y="2377440"/>
            <a:ext cx="2322576" cy="256032"/>
          </a:xfrm>
          <a:prstGeom prst="roundRect">
            <a:avLst>
              <a:gd name="adj" fmla="val 28571"/>
            </a:avLst>
          </a:prstGeom>
          <a:solidFill>
            <a:srgbClr val="FFF8E4"/>
          </a:solidFill>
          <a:ln w="12700">
            <a:solidFill>
              <a:srgbClr val="FFF8E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2414016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Opcion C condicionada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88736" y="1234440"/>
            <a:ext cx="2615184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36245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Retencion mal gobernada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1673352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videos y trazas pueden crecer mas rapido que la base transaccional si no se limpian o mueven de tier.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2322576" cy="256032"/>
          </a:xfrm>
          <a:prstGeom prst="roundRect">
            <a:avLst>
              <a:gd name="adj" fmla="val 28571"/>
            </a:avLst>
          </a:prstGeom>
          <a:solidFill>
            <a:srgbClr val="FCEAE6"/>
          </a:solidFill>
          <a:ln w="12700">
            <a:solidFill>
              <a:srgbClr val="FCEAE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2414016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lifecycle desde el inicio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65960" y="2907792"/>
            <a:ext cx="2615184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12264" y="30358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 sin gobierno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12264" y="3346704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clientes sin mayor control sobre datos y monitoreo aumentan friccion y probabilidad de errores.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12264" y="4050792"/>
            <a:ext cx="2322576" cy="256032"/>
          </a:xfrm>
          <a:prstGeom prst="roundRect">
            <a:avLst>
              <a:gd name="adj" fmla="val 28571"/>
            </a:avLst>
          </a:prstGeom>
          <a:solidFill>
            <a:srgbClr val="EDF6E7"/>
          </a:solidFill>
          <a:ln w="12700">
            <a:solidFill>
              <a:srgbClr val="EDF6E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5416" y="4087368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2028 como hito de gobierno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81144" y="2907792"/>
            <a:ext cx="2615184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8D2C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27448" y="303580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Medicion insuficiente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27448" y="3346704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medidores por cliente y por actividad, las decisiones futuras vuelven a ser opinion y no evidencia.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27448" y="4050792"/>
            <a:ext cx="2322576" cy="256032"/>
          </a:xfrm>
          <a:prstGeom prst="roundRect">
            <a:avLst>
              <a:gd name="adj" fmla="val 28571"/>
            </a:avLst>
          </a:prstGeom>
          <a:solidFill>
            <a:srgbClr val="EDF6E7"/>
          </a:solidFill>
          <a:ln w="12700">
            <a:solidFill>
              <a:srgbClr val="EDF6E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087368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desde la etapa 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riesgo del deck tiene una respuesta accionable, no solo una alerta.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3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para esta reunion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Gerencia puede aprobar hoy para no volver a discutir desde cero en 6 meses.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13232" y="1280160"/>
            <a:ext cx="310896" cy="31089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3502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70432" y="13075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Opcion A como base 2026-2027.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1901952"/>
            <a:ext cx="310896" cy="31089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5681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70432" y="19293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2028 como hito formal para pasar a Opcion B.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2523744"/>
            <a:ext cx="310896" cy="31089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7860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5511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pricing con cargo base y capa variable.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0040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31729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Instrumentar medicion por cliente, recolector, actividad y archivo.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3232" y="3767328"/>
            <a:ext cx="310896" cy="31089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2219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37947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Opcion C solo para continuidad, compliance o contratos premium.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1170432"/>
            <a:ext cx="1965960" cy="2697480"/>
          </a:xfrm>
          <a:prstGeom prst="roundRect">
            <a:avLst>
              <a:gd name="adj" fmla="val 2791"/>
            </a:avLst>
          </a:prstGeom>
          <a:solidFill>
            <a:srgbClr val="F7F4EA"/>
          </a:solidFill>
          <a:ln w="12700">
            <a:solidFill>
              <a:srgbClr val="F7F4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4264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Mensaje final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56832" y="1847088"/>
            <a:ext cx="1554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 decision no es comprar la plataforma mas robusta.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 decision es aprobar una ruta que invierte por etapas y protege margen mientras el negocio crece.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56832" y="3310128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C99700"/>
          </a:solidFill>
          <a:ln w="12700">
            <a:solidFill>
              <a:srgbClr val="C997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3346704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ahora / B en 2028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ejecutivo generado desde el resumen NEGOCIO-PACHAMAMA-20260421.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REORI CORP S.A.C.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Pachamama - Costos y Escalamiento Cloud</dc:title>
  <dc:subject>Resumen ejecutivo para reunion con Gerencia</dc:subject>
  <dc:creator>GitHub Copilot</dc:creator>
  <cp:lastModifiedBy>GitHub Copilot</cp:lastModifiedBy>
  <cp:revision>1</cp:revision>
  <dcterms:created xsi:type="dcterms:W3CDTF">2026-04-22T03:55:19Z</dcterms:created>
  <dcterms:modified xsi:type="dcterms:W3CDTF">2026-04-22T03:55:19Z</dcterms:modified>
</cp:coreProperties>
</file>